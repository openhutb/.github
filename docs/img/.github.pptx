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89" r:id="rId4"/>
    <p:sldId id="291" r:id="rId6"/>
  </p:sldIdLst>
  <p:sldSz cx="9144000" cy="5143500" type="screen16x9"/>
  <p:notesSz cx="9144000" cy="5143500"/>
  <p:embeddedFontLst>
    <p:embeddedFont>
      <p:font typeface="Economica" panose="02000506040000020004"/>
      <p:regular r:id="rId10"/>
    </p:embeddedFont>
    <p:embeddedFont>
      <p:font typeface="Open Sans" panose="020B0606030504020204"/>
      <p:regular r:id="rId11"/>
    </p:embeddedFont>
    <p:embeddedFont>
      <p:font typeface="Muli Regular"/>
      <p:regular r:id="rId12"/>
      <p:italic r:id="rId13"/>
    </p:embeddedFont>
    <p:embeddedFont>
      <p:font typeface="微软雅黑" panose="020B0503020204020204" charset="-122"/>
      <p:regular r:id="rId14"/>
      <p:bold r:id="rId15"/>
    </p:embeddedFont>
    <p:embeddedFont>
      <p:font typeface="等线" panose="02010600030101010101" charset="-122"/>
      <p:regular r:id="rId16"/>
      <p:bold r:id="rId17"/>
    </p:embeddedFont>
    <p:embeddedFont>
      <p:font typeface="Muli"/>
      <p:regular r:id="rId18"/>
      <p:bold r:id="rId19"/>
      <p: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915" userDrawn="1">
          <p15:clr>
            <a:srgbClr val="A4A3A4"/>
          </p15:clr>
        </p15:guide>
        <p15:guide id="2" pos="20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EAFF"/>
    <a:srgbClr val="4E83FD"/>
    <a:srgbClr val="62D256"/>
    <a:srgbClr val="DAF5D5"/>
    <a:srgbClr val="A1B8E0"/>
    <a:srgbClr val="297FB9"/>
    <a:srgbClr val="FF8239"/>
    <a:srgbClr val="F7F7F7"/>
    <a:srgbClr val="77B900"/>
    <a:srgbClr val="CC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59" autoAdjust="0"/>
    <p:restoredTop sz="89277" autoAdjust="0"/>
  </p:normalViewPr>
  <p:slideViewPr>
    <p:cSldViewPr snapToGrid="0" showGuides="1">
      <p:cViewPr varScale="1">
        <p:scale>
          <a:sx n="197" d="100"/>
          <a:sy n="197" d="100"/>
        </p:scale>
        <p:origin x="652" y="116"/>
      </p:cViewPr>
      <p:guideLst>
        <p:guide orient="horz" pos="2915"/>
        <p:guide pos="20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font" Target="fonts/font11.fntdata"/><Relationship Id="rId2" Type="http://schemas.openxmlformats.org/officeDocument/2006/relationships/theme" Target="theme/theme1.xml"/><Relationship Id="rId19" Type="http://schemas.openxmlformats.org/officeDocument/2006/relationships/font" Target="fonts/font10.fntdata"/><Relationship Id="rId18" Type="http://schemas.openxmlformats.org/officeDocument/2006/relationships/font" Target="fonts/font9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15" Type="http://schemas.openxmlformats.org/officeDocument/2006/relationships/font" Target="fonts/font6.fntdata"/><Relationship Id="rId14" Type="http://schemas.openxmlformats.org/officeDocument/2006/relationships/font" Target="fonts/font5.fntdata"/><Relationship Id="rId13" Type="http://schemas.openxmlformats.org/officeDocument/2006/relationships/font" Target="fonts/font4.fntdata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ubmc.cn/zh/organizations#org-structure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0294dfa11_0_4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zh-CN">
                <a:solidFill>
                  <a:srgbClr val="39373D"/>
                </a:solidFill>
                <a:ea typeface="宋体" panose="02010600030101010101" pitchFamily="2" charset="-122"/>
                <a:sym typeface="+mn-ea"/>
              </a:rPr>
              <a:t>how_OpenHUTB_works.jpg</a:t>
            </a:r>
            <a:endParaRPr lang="zh-CN" altLang="en-US">
              <a:solidFill>
                <a:srgbClr val="39373D"/>
              </a:solidFill>
              <a:ea typeface="宋体" panose="02010600030101010101" pitchFamily="2" charset="-12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 altLang="en-US">
                <a:solidFill>
                  <a:srgbClr val="39373D"/>
                </a:solidFill>
                <a:ea typeface="宋体" panose="02010600030101010101" pitchFamily="2" charset="-122"/>
              </a:rPr>
              <a:t>参考：</a:t>
            </a:r>
            <a:r>
              <a:rPr lang="en-US" altLang="zh-CN">
                <a:solidFill>
                  <a:srgbClr val="39373D"/>
                </a:solidFill>
                <a:ea typeface="宋体" panose="02010600030101010101" pitchFamily="2" charset="-122"/>
              </a:rPr>
              <a:t>https://developer.nvidia.cn/isaac/lab</a:t>
            </a:r>
            <a:endParaRPr lang="en-US" altLang="zh-CN">
              <a:solidFill>
                <a:srgbClr val="39373D"/>
              </a:solidFill>
              <a:ea typeface="宋体" panose="02010600030101010101" pitchFamily="2" charset="-12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zh-CN">
                <a:solidFill>
                  <a:srgbClr val="39373D"/>
                </a:solidFill>
                <a:ea typeface="宋体" panose="02010600030101010101" pitchFamily="2" charset="-122"/>
              </a:rPr>
              <a:t>https://developer.download.nvidia.com/images/isaac/lab/how-nvidia-isaac-lab-works.jpg</a:t>
            </a:r>
            <a:endParaRPr lang="en-US" altLang="zh-CN">
              <a:solidFill>
                <a:srgbClr val="39373D"/>
              </a:solidFill>
              <a:ea typeface="宋体" panose="02010600030101010101" pitchFamily="2" charset="-122"/>
            </a:endParaRPr>
          </a:p>
        </p:txBody>
      </p:sp>
      <p:sp>
        <p:nvSpPr>
          <p:cNvPr id="90" name="Google Shape;90;g80294dfa1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altLang="zh-CN"/>
              <a:t>architecture.png</a:t>
            </a:r>
            <a:endParaRPr lang="en-US" altLang="zh-CN"/>
          </a:p>
          <a:p>
            <a:pPr marL="158750" indent="0">
              <a:buNone/>
            </a:pPr>
            <a:r>
              <a:rPr lang="zh-CN" altLang="en-US"/>
              <a:t>组织架构：</a:t>
            </a:r>
            <a:r>
              <a:rPr lang="en-US" altLang="zh-CN">
                <a:hlinkClick r:id="rId3" action="ppaction://hlinkfile"/>
              </a:rPr>
              <a:t>https://www.openubmc.cn/zh/organizations#org-structure</a:t>
            </a:r>
            <a:endParaRPr lang="en-US" altLang="zh-CN">
              <a:hlinkClick r:id="rId3" action="ppaction://hlinkfile"/>
            </a:endParaRPr>
          </a:p>
          <a:p>
            <a:pPr marL="158750" indent="0">
              <a:buNone/>
            </a:pPr>
            <a:r>
              <a:rPr lang="en-US" altLang="zh-CN">
                <a:hlinkClick r:id="rId3" action="ppaction://hlinkfile"/>
              </a:rPr>
              <a:t>https://kaiyuanshe.github.io/profile/structure/</a:t>
            </a:r>
            <a:endParaRPr lang="en-US" altLang="zh-CN"/>
          </a:p>
          <a:p>
            <a:pPr marL="158750" indent="0">
              <a:buNone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05385-2535-4385-8ABF-878A66ACA1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matchingName="Title and Content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849773c3a5_0_53"/>
          <p:cNvSpPr txBox="1">
            <a:spLocks noGrp="1"/>
          </p:cNvSpPr>
          <p:nvPr>
            <p:ph type="sldNum" idx="12"/>
          </p:nvPr>
        </p:nvSpPr>
        <p:spPr>
          <a:xfrm>
            <a:off x="8545825" y="4756575"/>
            <a:ext cx="5982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540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1pPr>
            <a:lvl2pPr marL="2540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2pPr>
            <a:lvl3pPr marL="2540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3pPr>
            <a:lvl4pPr marL="2540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4pPr>
            <a:lvl5pPr marL="2540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5pPr>
            <a:lvl6pPr marL="2540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6pPr>
            <a:lvl7pPr marL="2540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7pPr>
            <a:lvl8pPr marL="2540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8pPr>
            <a:lvl9pPr marL="2540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matchingName="Section header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849773c3a5_0_10"/>
          <p:cNvSpPr/>
          <p:nvPr/>
        </p:nvSpPr>
        <p:spPr>
          <a:xfrm flipH="1">
            <a:off x="7595939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9" name="Google Shape;19;g849773c3a5_0_10"/>
          <p:cNvSpPr/>
          <p:nvPr/>
        </p:nvSpPr>
        <p:spPr>
          <a:xfrm rot="10800000" flipH="1">
            <a:off x="466426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" name="Google Shape;20;g849773c3a5_0_10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1" name="Google Shape;21;g849773c3a5_0_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matchingName="Title and body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849773c3a5_0_15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" name="Google Shape;24;g849773c3a5_0_1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5" name="Google Shape;25;g849773c3a5_0_1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g849773c3a5_0_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showMasterSp="0" matchingName="Title and two columns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849773c3a5_0_2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9" name="Google Shape;29;g849773c3a5_0_20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849773c3a5_0_20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849773c3a5_0_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showMasterSp="0" matchingName="Title 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849773c3a5_0_2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4" name="Google Shape;34;g849773c3a5_0_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849773c3a5_0_2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" name="Google Shape;37;g849773c3a5_0_28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849773c3a5_0_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849773c3a5_0_32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1" name="Google Shape;41;g849773c3a5_0_3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g849773c3a5_0_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g849773c3a5_0_36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g849773c3a5_0_36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7" name="Google Shape;47;g849773c3a5_0_36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/>
        </p:txBody>
      </p:sp>
      <p:sp>
        <p:nvSpPr>
          <p:cNvPr id="48" name="Google Shape;48;g849773c3a5_0_36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g849773c3a5_0_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849773c3a5_0_43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</a:lstStyle>
          <a:p/>
        </p:txBody>
      </p:sp>
      <p:sp>
        <p:nvSpPr>
          <p:cNvPr id="52" name="Google Shape;52;g849773c3a5_0_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849773c3a5_0_4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5" name="Google Shape;55;g849773c3a5_0_46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g849773c3a5_0_46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g849773c3a5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 matchingNam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49773c3a5_0_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fld id="{430F476B-2664-449A-AB10-048DED04FBD5}" type="datetimeFigureOut">
              <a:rPr lang="zh-CN" altLang="en-US" kern="1200" smtClean="0">
                <a:solidFill>
                  <a:prstClr val="black">
                    <a:tint val="75000"/>
                  </a:prstClr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kern="1200">
              <a:solidFill>
                <a:prstClr val="black">
                  <a:tint val="75000"/>
                </a:prst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zh-CN" altLang="en-US" kern="1200">
              <a:solidFill>
                <a:prstClr val="black">
                  <a:tint val="75000"/>
                </a:prst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  <a:defRPr/>
            </a:pPr>
            <a:fld id="{36F158E2-A096-4B65-BCC7-23F76A48A10E}" type="slidenum">
              <a:rPr lang="zh-CN" altLang="en-US" kern="1200" smtClean="0">
                <a:solidFill>
                  <a:prstClr val="black">
                    <a:tint val="75000"/>
                  </a:prstClr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kern="1200">
              <a:solidFill>
                <a:prstClr val="black">
                  <a:tint val="75000"/>
                </a:prst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849773c3a5_0_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/>
        </p:txBody>
      </p:sp>
      <p:sp>
        <p:nvSpPr>
          <p:cNvPr id="7" name="Google Shape;7;g849773c3a5_0_0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 panose="020B0606030504020204"/>
              <a:buChar char="●"/>
              <a:defRPr sz="18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 panose="020B0606030504020204"/>
              <a:buChar char="○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 panose="020B0606030504020204"/>
              <a:buChar char="■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 panose="020B0606030504020204"/>
              <a:buChar char="●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 panose="020B0606030504020204"/>
              <a:buChar char="○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 panose="020B0606030504020204"/>
              <a:buChar char="■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 panose="020B0606030504020204"/>
              <a:buChar char="●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 panose="020B0606030504020204"/>
              <a:buChar char="○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 panose="020B0606030504020204"/>
              <a:buChar char="■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9pPr>
          </a:lstStyle>
          <a:p/>
        </p:txBody>
      </p:sp>
      <p:sp>
        <p:nvSpPr>
          <p:cNvPr id="8" name="Google Shape;8;g849773c3a5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buClrTx/>
              <a:defRPr/>
            </a:pPr>
            <a:fld id="{C183E886-86A7-4F8D-8780-A286D99A2418}" type="datetime1">
              <a:rPr lang="zh-CN" altLang="en-US" kern="1200" smtClean="0">
                <a:solidFill>
                  <a:prstClr val="black">
                    <a:tint val="75000"/>
                  </a:prstClr>
                </a:solidFill>
                <a:ea typeface="微软雅黑" panose="020B0503020204020204" charset="-122"/>
                <a:cs typeface="+mn-cs"/>
              </a:rPr>
            </a:fld>
            <a:endParaRPr lang="zh-CN" altLang="en-US" kern="1200">
              <a:solidFill>
                <a:prstClr val="black">
                  <a:tint val="75000"/>
                </a:prstClr>
              </a:solidFill>
              <a:ea typeface="微软雅黑" panose="020B050302020402020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buClrTx/>
              <a:defRPr/>
            </a:pPr>
            <a:endParaRPr lang="zh-CN" altLang="en-US" kern="1200">
              <a:solidFill>
                <a:prstClr val="black">
                  <a:tint val="75000"/>
                </a:prstClr>
              </a:solidFill>
              <a:ea typeface="微软雅黑" panose="020B050302020402020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146474" y="4767263"/>
            <a:ext cx="36887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buClrTx/>
              <a:defRPr/>
            </a:pPr>
            <a:fld id="{C3704629-1E74-47A3-90CD-33454C7737EB}" type="slidenum">
              <a:rPr lang="zh-CN" altLang="en-US" kern="1200" smtClean="0">
                <a:solidFill>
                  <a:prstClr val="black">
                    <a:tint val="75000"/>
                  </a:prstClr>
                </a:solidFill>
                <a:ea typeface="微软雅黑" panose="020B0503020204020204" charset="-122"/>
                <a:cs typeface="+mn-cs"/>
              </a:rPr>
            </a:fld>
            <a:endParaRPr lang="zh-CN" altLang="en-US" kern="1200">
              <a:solidFill>
                <a:prstClr val="black">
                  <a:tint val="75000"/>
                </a:prstClr>
              </a:solidFill>
              <a:ea typeface="微软雅黑" panose="020B050302020402020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80294dfa11_0_4"/>
          <p:cNvSpPr txBox="1">
            <a:spLocks noGrp="1"/>
          </p:cNvSpPr>
          <p:nvPr>
            <p:ph type="title" idx="4294967295"/>
          </p:nvPr>
        </p:nvSpPr>
        <p:spPr>
          <a:xfrm>
            <a:off x="1426845" y="1290955"/>
            <a:ext cx="5469890" cy="39687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algn="ctr"/>
            <a:r>
              <a:rPr lang="en-US" altLang="zh-CN" sz="2400" b="1">
                <a:solidFill>
                  <a:srgbClr val="39373D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Muli"/>
              </a:rPr>
              <a:t>OpenHUTB </a:t>
            </a:r>
            <a:r>
              <a:rPr lang="zh-CN" altLang="en-US" sz="2400" b="1">
                <a:solidFill>
                  <a:srgbClr val="39373D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Muli"/>
              </a:rPr>
              <a:t>模拟器</a:t>
            </a:r>
            <a:endParaRPr lang="zh-CN" altLang="en-US" sz="2400" b="1">
              <a:solidFill>
                <a:srgbClr val="39373D"/>
              </a:solidFill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Muli"/>
            </a:endParaRPr>
          </a:p>
        </p:txBody>
      </p:sp>
      <p:sp>
        <p:nvSpPr>
          <p:cNvPr id="2" name="Google Shape;92;g80294dfa11_0_4"/>
          <p:cNvSpPr txBox="1">
            <a:spLocks noGrp="1"/>
          </p:cNvSpPr>
          <p:nvPr/>
        </p:nvSpPr>
        <p:spPr>
          <a:xfrm>
            <a:off x="1426845" y="3011170"/>
            <a:ext cx="5469890" cy="41084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square" lIns="0" tIns="1270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pPr marL="12700" algn="ctr"/>
            <a:r>
              <a:rPr lang="zh-CN" altLang="en-US" sz="2400" b="1">
                <a:solidFill>
                  <a:srgbClr val="39373D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Muli"/>
              </a:rPr>
              <a:t>模拟引擎</a:t>
            </a:r>
            <a:endParaRPr lang="zh-CN" altLang="en-US" sz="2400" b="1">
              <a:solidFill>
                <a:srgbClr val="39373D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Muli"/>
            </a:endParaRPr>
          </a:p>
        </p:txBody>
      </p:sp>
      <p:sp>
        <p:nvSpPr>
          <p:cNvPr id="4" name="Google Shape;92;g80294dfa11_0_4"/>
          <p:cNvSpPr txBox="1">
            <a:spLocks noGrp="1"/>
          </p:cNvSpPr>
          <p:nvPr/>
        </p:nvSpPr>
        <p:spPr>
          <a:xfrm>
            <a:off x="1426845" y="3541395"/>
            <a:ext cx="5469890" cy="39306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square" lIns="0" tIns="1270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pPr marL="12700" algn="ctr"/>
            <a:r>
              <a:rPr lang="en-US" altLang="zh-CN" sz="2400" b="1">
                <a:solidFill>
                  <a:srgbClr val="39373D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PhysX</a:t>
            </a:r>
            <a:r>
              <a:rPr lang="zh-CN" altLang="en-US" sz="2400" b="1">
                <a:solidFill>
                  <a:srgbClr val="39373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uli"/>
              </a:rPr>
              <a:t>、</a:t>
            </a:r>
            <a:r>
              <a:rPr lang="en-US" altLang="zh-CN" sz="2400" b="1">
                <a:solidFill>
                  <a:srgbClr val="39373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uli"/>
              </a:rPr>
              <a:t>Mujoco</a:t>
            </a:r>
            <a:r>
              <a:rPr lang="zh-CN" altLang="en-US" sz="2400" b="1">
                <a:solidFill>
                  <a:srgbClr val="39373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uli"/>
              </a:rPr>
              <a:t>、</a:t>
            </a:r>
            <a:r>
              <a:rPr lang="en-US" altLang="zh-CN" sz="2400" b="1">
                <a:solidFill>
                  <a:srgbClr val="39373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uli"/>
              </a:rPr>
              <a:t>Chrono</a:t>
            </a:r>
            <a:endParaRPr lang="en-US" altLang="zh-CN" sz="2400" b="1">
              <a:solidFill>
                <a:srgbClr val="39373D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uli"/>
            </a:endParaRPr>
          </a:p>
        </p:txBody>
      </p:sp>
      <p:sp>
        <p:nvSpPr>
          <p:cNvPr id="6" name="Google Shape;92;g80294dfa11_0_4"/>
          <p:cNvSpPr txBox="1">
            <a:spLocks noGrp="1"/>
          </p:cNvSpPr>
          <p:nvPr/>
        </p:nvSpPr>
        <p:spPr>
          <a:xfrm>
            <a:off x="1426845" y="1777365"/>
            <a:ext cx="5469890" cy="113474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0" tIns="1270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pPr marL="12700" algn="ctr"/>
            <a:endParaRPr lang="en-US" altLang="zh-CN" sz="2400" b="1">
              <a:solidFill>
                <a:srgbClr val="39373D"/>
              </a:solidFill>
              <a:latin typeface="Times New Roman" panose="02020603050405020304" pitchFamily="18" charset="0"/>
              <a:ea typeface="Muli"/>
              <a:cs typeface="Times New Roman" panose="02020603050405020304" pitchFamily="18" charset="0"/>
              <a:sym typeface="Muli"/>
            </a:endParaRPr>
          </a:p>
        </p:txBody>
      </p:sp>
      <p:sp>
        <p:nvSpPr>
          <p:cNvPr id="8" name="Google Shape;92;g80294dfa11_0_4"/>
          <p:cNvSpPr txBox="1">
            <a:spLocks noGrp="1"/>
          </p:cNvSpPr>
          <p:nvPr/>
        </p:nvSpPr>
        <p:spPr>
          <a:xfrm>
            <a:off x="1426845" y="1777365"/>
            <a:ext cx="76200" cy="1134745"/>
          </a:xfrm>
          <a:prstGeom prst="rect">
            <a:avLst/>
          </a:prstGeom>
          <a:solidFill>
            <a:srgbClr val="297FB9"/>
          </a:solidFill>
          <a:ln>
            <a:noFill/>
          </a:ln>
        </p:spPr>
        <p:txBody>
          <a:bodyPr wrap="square" lIns="0" tIns="1270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pPr marL="12700" algn="ctr"/>
            <a:endParaRPr lang="en-US" altLang="zh-CN" sz="2400" b="1">
              <a:solidFill>
                <a:srgbClr val="39373D"/>
              </a:solidFill>
              <a:latin typeface="Times New Roman" panose="02020603050405020304" pitchFamily="18" charset="0"/>
              <a:ea typeface="Muli"/>
              <a:cs typeface="Times New Roman" panose="02020603050405020304" pitchFamily="18" charset="0"/>
              <a:sym typeface="Muli"/>
            </a:endParaRPr>
          </a:p>
        </p:txBody>
      </p:sp>
      <p:sp>
        <p:nvSpPr>
          <p:cNvPr id="22" name="Google Shape;92;g80294dfa11_0_4"/>
          <p:cNvSpPr txBox="1">
            <a:spLocks noGrp="1"/>
          </p:cNvSpPr>
          <p:nvPr/>
        </p:nvSpPr>
        <p:spPr>
          <a:xfrm>
            <a:off x="1657985" y="2472690"/>
            <a:ext cx="1531620" cy="29273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square" lIns="0" tIns="1270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pPr marL="12700" algn="ctr"/>
            <a:r>
              <a:rPr lang="zh-CN" altLang="en-US" sz="1600" b="1">
                <a:solidFill>
                  <a:srgbClr val="39373D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Muli"/>
              </a:rPr>
              <a:t>环境</a:t>
            </a:r>
            <a:endParaRPr lang="zh-CN" altLang="en-US" sz="1600" b="1">
              <a:solidFill>
                <a:srgbClr val="39373D"/>
              </a:solidFill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Muli"/>
            </a:endParaRPr>
          </a:p>
        </p:txBody>
      </p:sp>
      <p:sp>
        <p:nvSpPr>
          <p:cNvPr id="23" name="Google Shape;92;g80294dfa11_0_4"/>
          <p:cNvSpPr txBox="1">
            <a:spLocks noGrp="1"/>
          </p:cNvSpPr>
          <p:nvPr/>
        </p:nvSpPr>
        <p:spPr>
          <a:xfrm>
            <a:off x="3326130" y="2472690"/>
            <a:ext cx="1531620" cy="29273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square" lIns="0" tIns="1270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pPr marL="12700" algn="ctr"/>
            <a:r>
              <a:rPr lang="zh-CN" altLang="en-US" sz="1600" b="1">
                <a:solidFill>
                  <a:srgbClr val="39373D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Muli"/>
              </a:rPr>
              <a:t>任务</a:t>
            </a:r>
            <a:endParaRPr lang="zh-CN" altLang="en-US" sz="1600" b="1">
              <a:solidFill>
                <a:srgbClr val="39373D"/>
              </a:solidFill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Muli"/>
            </a:endParaRPr>
          </a:p>
        </p:txBody>
      </p:sp>
      <p:sp>
        <p:nvSpPr>
          <p:cNvPr id="24" name="Google Shape;92;g80294dfa11_0_4"/>
          <p:cNvSpPr txBox="1">
            <a:spLocks noGrp="1"/>
          </p:cNvSpPr>
          <p:nvPr/>
        </p:nvSpPr>
        <p:spPr>
          <a:xfrm>
            <a:off x="5104765" y="2472690"/>
            <a:ext cx="1531620" cy="29273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square" lIns="0" tIns="1270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pPr marL="12700" algn="ctr"/>
            <a:r>
              <a:rPr lang="zh-CN" altLang="en-US" sz="1600" b="1">
                <a:solidFill>
                  <a:srgbClr val="39373D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Muli"/>
              </a:rPr>
              <a:t>资产</a:t>
            </a:r>
            <a:endParaRPr lang="zh-CN" altLang="en-US" sz="1600" b="1">
              <a:solidFill>
                <a:srgbClr val="39373D"/>
              </a:solidFill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Muli"/>
            </a:endParaRPr>
          </a:p>
        </p:txBody>
      </p:sp>
      <p:sp>
        <p:nvSpPr>
          <p:cNvPr id="26" name="Google Shape;92;g80294dfa11_0_4"/>
          <p:cNvSpPr txBox="1">
            <a:spLocks noGrp="1"/>
          </p:cNvSpPr>
          <p:nvPr/>
        </p:nvSpPr>
        <p:spPr>
          <a:xfrm>
            <a:off x="2481580" y="1934210"/>
            <a:ext cx="1531620" cy="29273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0" tIns="1270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pPr marL="12700" algn="ctr"/>
            <a:r>
              <a:rPr lang="zh-CN" altLang="en-US" sz="1600" b="1">
                <a:solidFill>
                  <a:srgbClr val="39373D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Muli"/>
              </a:rPr>
              <a:t>任务</a:t>
            </a:r>
            <a:r>
              <a:rPr lang="en-US" altLang="zh-CN" sz="1600" b="1">
                <a:solidFill>
                  <a:srgbClr val="39373D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Muli"/>
              </a:rPr>
              <a:t> API &amp; </a:t>
            </a:r>
            <a:r>
              <a:rPr lang="zh-CN" altLang="en-US" sz="1600" b="1">
                <a:solidFill>
                  <a:srgbClr val="39373D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Muli"/>
              </a:rPr>
              <a:t>框架</a:t>
            </a:r>
            <a:endParaRPr lang="zh-CN" altLang="en-US" sz="1600" b="1">
              <a:solidFill>
                <a:srgbClr val="39373D"/>
              </a:solidFill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Muli"/>
            </a:endParaRPr>
          </a:p>
        </p:txBody>
      </p:sp>
      <p:sp>
        <p:nvSpPr>
          <p:cNvPr id="27" name="Google Shape;92;g80294dfa11_0_4"/>
          <p:cNvSpPr txBox="1">
            <a:spLocks noGrp="1"/>
          </p:cNvSpPr>
          <p:nvPr/>
        </p:nvSpPr>
        <p:spPr>
          <a:xfrm>
            <a:off x="4500245" y="1934210"/>
            <a:ext cx="1531620" cy="29273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0" tIns="1270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pPr marL="12700" algn="ctr"/>
            <a:r>
              <a:rPr lang="zh-CN" sz="1600" b="1">
                <a:solidFill>
                  <a:srgbClr val="39373D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Muli"/>
              </a:rPr>
              <a:t>机器人学习算法</a:t>
            </a:r>
            <a:endParaRPr lang="zh-CN" sz="1600" b="1">
              <a:solidFill>
                <a:srgbClr val="39373D"/>
              </a:solidFill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Mul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圆角矩形 188"/>
          <p:cNvSpPr/>
          <p:nvPr/>
        </p:nvSpPr>
        <p:spPr>
          <a:xfrm>
            <a:off x="3947160" y="1550035"/>
            <a:ext cx="941070" cy="589280"/>
          </a:xfrm>
          <a:prstGeom prst="roundRect">
            <a:avLst/>
          </a:prstGeom>
          <a:solidFill>
            <a:srgbClr val="DAF5D5"/>
          </a:solidFill>
          <a:ln w="25400">
            <a:solidFill>
              <a:srgbClr val="62D256"/>
            </a:solidFill>
          </a:ln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</a:rPr>
              <a:t>技术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圆角矩形 189"/>
          <p:cNvSpPr/>
          <p:nvPr/>
        </p:nvSpPr>
        <p:spPr>
          <a:xfrm>
            <a:off x="7979410" y="2336165"/>
            <a:ext cx="1040130" cy="368300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安全合规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圆角矩形 190"/>
          <p:cNvSpPr/>
          <p:nvPr/>
        </p:nvSpPr>
        <p:spPr>
          <a:xfrm>
            <a:off x="7979410" y="2851150"/>
            <a:ext cx="1039495" cy="329565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风险承受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圆角矩形 191"/>
          <p:cNvSpPr/>
          <p:nvPr/>
        </p:nvSpPr>
        <p:spPr>
          <a:xfrm>
            <a:off x="7979410" y="3327400"/>
            <a:ext cx="1039495" cy="363220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授权与发展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" name="圆角矩形 192"/>
          <p:cNvSpPr/>
          <p:nvPr/>
        </p:nvSpPr>
        <p:spPr>
          <a:xfrm>
            <a:off x="2508250" y="2322830"/>
            <a:ext cx="1058545" cy="377825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硬件采购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圆角矩形 194"/>
          <p:cNvSpPr/>
          <p:nvPr/>
        </p:nvSpPr>
        <p:spPr>
          <a:xfrm>
            <a:off x="3462655" y="408305"/>
            <a:ext cx="1910080" cy="567055"/>
          </a:xfrm>
          <a:prstGeom prst="roundRect">
            <a:avLst/>
          </a:prstGeom>
          <a:blipFill>
            <a:blip r:embed="rId1"/>
            <a:tile tx="0" ty="0" sx="100000" sy="100000" flip="none" algn="tl"/>
          </a:blip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开源孪创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" name="圆角矩形 195"/>
          <p:cNvSpPr/>
          <p:nvPr/>
        </p:nvSpPr>
        <p:spPr>
          <a:xfrm>
            <a:off x="6635750" y="2336165"/>
            <a:ext cx="1039495" cy="368300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开源教育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圆角矩形 196"/>
          <p:cNvSpPr/>
          <p:nvPr/>
        </p:nvSpPr>
        <p:spPr>
          <a:xfrm>
            <a:off x="6636385" y="2874645"/>
            <a:ext cx="1039495" cy="329565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应用分发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" name="圆角矩形 197"/>
          <p:cNvSpPr/>
          <p:nvPr/>
        </p:nvSpPr>
        <p:spPr>
          <a:xfrm>
            <a:off x="6666230" y="3343275"/>
            <a:ext cx="1038860" cy="340360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活动宣传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圆角矩形 198"/>
          <p:cNvSpPr/>
          <p:nvPr/>
        </p:nvSpPr>
        <p:spPr>
          <a:xfrm>
            <a:off x="6666230" y="3784600"/>
            <a:ext cx="1069340" cy="338455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外部通讯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圆角矩形 199"/>
          <p:cNvSpPr/>
          <p:nvPr/>
        </p:nvSpPr>
        <p:spPr>
          <a:xfrm>
            <a:off x="132080" y="1558290"/>
            <a:ext cx="987425" cy="589280"/>
          </a:xfrm>
          <a:prstGeom prst="roundRect">
            <a:avLst/>
          </a:prstGeom>
          <a:solidFill>
            <a:srgbClr val="DAF5D5"/>
          </a:solidFill>
          <a:ln w="25400">
            <a:solidFill>
              <a:srgbClr val="62D256"/>
            </a:solidFill>
          </a:ln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</a:rPr>
              <a:t>人事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圆角矩形 200"/>
          <p:cNvSpPr/>
          <p:nvPr/>
        </p:nvSpPr>
        <p:spPr>
          <a:xfrm>
            <a:off x="1344295" y="1558290"/>
            <a:ext cx="1029335" cy="589280"/>
          </a:xfrm>
          <a:prstGeom prst="roundRect">
            <a:avLst/>
          </a:prstGeom>
          <a:solidFill>
            <a:srgbClr val="DAF5D5"/>
          </a:solidFill>
          <a:ln w="25400">
            <a:solidFill>
              <a:srgbClr val="62D256"/>
            </a:solidFill>
          </a:ln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</a:rPr>
              <a:t>财务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圆角矩形 201"/>
          <p:cNvSpPr/>
          <p:nvPr/>
        </p:nvSpPr>
        <p:spPr>
          <a:xfrm>
            <a:off x="2508250" y="1584960"/>
            <a:ext cx="1058545" cy="589280"/>
          </a:xfrm>
          <a:prstGeom prst="roundRect">
            <a:avLst/>
          </a:prstGeom>
          <a:solidFill>
            <a:srgbClr val="DAF5D5"/>
          </a:solidFill>
          <a:ln w="25400">
            <a:solidFill>
              <a:srgbClr val="62D256"/>
            </a:solidFill>
          </a:ln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</a:rPr>
              <a:t>行政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" name="圆角矩形 202"/>
          <p:cNvSpPr/>
          <p:nvPr/>
        </p:nvSpPr>
        <p:spPr>
          <a:xfrm>
            <a:off x="7980045" y="1576705"/>
            <a:ext cx="1040130" cy="589280"/>
          </a:xfrm>
          <a:prstGeom prst="roundRect">
            <a:avLst/>
          </a:prstGeom>
          <a:solidFill>
            <a:srgbClr val="DAF5D5"/>
          </a:solidFill>
          <a:ln w="25400">
            <a:solidFill>
              <a:srgbClr val="62D256"/>
            </a:solidFill>
          </a:ln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</a:rPr>
              <a:t>法务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圆角矩形 203"/>
          <p:cNvSpPr/>
          <p:nvPr/>
        </p:nvSpPr>
        <p:spPr>
          <a:xfrm>
            <a:off x="6636385" y="1576705"/>
            <a:ext cx="1040130" cy="589280"/>
          </a:xfrm>
          <a:prstGeom prst="roundRect">
            <a:avLst/>
          </a:prstGeom>
          <a:solidFill>
            <a:srgbClr val="DAF5D5"/>
          </a:solidFill>
          <a:ln w="25400">
            <a:solidFill>
              <a:srgbClr val="62D256"/>
            </a:solidFill>
          </a:ln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</a:rPr>
              <a:t>宣传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圆角矩形 204"/>
          <p:cNvSpPr/>
          <p:nvPr/>
        </p:nvSpPr>
        <p:spPr>
          <a:xfrm>
            <a:off x="5292725" y="1576705"/>
            <a:ext cx="1040130" cy="589280"/>
          </a:xfrm>
          <a:prstGeom prst="roundRect">
            <a:avLst/>
          </a:prstGeom>
          <a:solidFill>
            <a:srgbClr val="DAF5D5"/>
          </a:solidFill>
          <a:ln w="25400">
            <a:solidFill>
              <a:srgbClr val="62D256"/>
            </a:solidFill>
          </a:ln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</a:rPr>
              <a:t>编辑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6" name="肘形连接符 205"/>
          <p:cNvCxnSpPr>
            <a:stCxn id="195" idx="2"/>
            <a:endCxn id="189" idx="0"/>
          </p:cNvCxnSpPr>
          <p:nvPr/>
        </p:nvCxnSpPr>
        <p:spPr>
          <a:xfrm rot="5400000" flipV="1">
            <a:off x="4130358" y="1262698"/>
            <a:ext cx="574675" cy="3175"/>
          </a:xfrm>
          <a:prstGeom prst="bentConnector2">
            <a:avLst/>
          </a:prstGeom>
          <a:ln w="28575" cmpd="sng">
            <a:solidFill>
              <a:schemeClr val="bg1">
                <a:lumMod val="65000"/>
              </a:schemeClr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曲线连接符 208"/>
          <p:cNvCxnSpPr>
            <a:endCxn id="205" idx="0"/>
          </p:cNvCxnSpPr>
          <p:nvPr/>
        </p:nvCxnSpPr>
        <p:spPr>
          <a:xfrm>
            <a:off x="4599940" y="992505"/>
            <a:ext cx="1212850" cy="584200"/>
          </a:xfrm>
          <a:prstGeom prst="curvedConnector2">
            <a:avLst/>
          </a:prstGeom>
          <a:ln w="28575" cmpd="sng">
            <a:solidFill>
              <a:schemeClr val="bg1">
                <a:lumMod val="65000"/>
              </a:schemeClr>
            </a:solidFill>
            <a:prstDash val="sysDot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曲线连接符 209"/>
          <p:cNvCxnSpPr>
            <a:endCxn id="204" idx="0"/>
          </p:cNvCxnSpPr>
          <p:nvPr/>
        </p:nvCxnSpPr>
        <p:spPr>
          <a:xfrm>
            <a:off x="4622165" y="983615"/>
            <a:ext cx="2534285" cy="593090"/>
          </a:xfrm>
          <a:prstGeom prst="curvedConnector2">
            <a:avLst/>
          </a:prstGeom>
          <a:ln w="28575" cmpd="sng">
            <a:solidFill>
              <a:schemeClr val="bg1">
                <a:lumMod val="65000"/>
              </a:schemeClr>
            </a:solidFill>
            <a:prstDash val="sysDot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曲线连接符 210"/>
          <p:cNvCxnSpPr>
            <a:endCxn id="203" idx="0"/>
          </p:cNvCxnSpPr>
          <p:nvPr/>
        </p:nvCxnSpPr>
        <p:spPr>
          <a:xfrm>
            <a:off x="4626610" y="970280"/>
            <a:ext cx="3873500" cy="606425"/>
          </a:xfrm>
          <a:prstGeom prst="curvedConnector2">
            <a:avLst/>
          </a:prstGeom>
          <a:ln w="28575" cmpd="sng">
            <a:solidFill>
              <a:schemeClr val="bg1">
                <a:lumMod val="65000"/>
              </a:schemeClr>
            </a:solidFill>
            <a:prstDash val="sysDot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曲线连接符 211"/>
          <p:cNvCxnSpPr>
            <a:endCxn id="202" idx="0"/>
          </p:cNvCxnSpPr>
          <p:nvPr/>
        </p:nvCxnSpPr>
        <p:spPr>
          <a:xfrm rot="10800000" flipV="1">
            <a:off x="3037840" y="996315"/>
            <a:ext cx="1216025" cy="588645"/>
          </a:xfrm>
          <a:prstGeom prst="curvedConnector2">
            <a:avLst/>
          </a:prstGeom>
          <a:ln w="28575" cmpd="sng">
            <a:solidFill>
              <a:schemeClr val="bg1">
                <a:lumMod val="65000"/>
              </a:schemeClr>
            </a:solidFill>
            <a:prstDash val="sysDot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曲线连接符 212"/>
          <p:cNvCxnSpPr>
            <a:endCxn id="201" idx="0"/>
          </p:cNvCxnSpPr>
          <p:nvPr/>
        </p:nvCxnSpPr>
        <p:spPr>
          <a:xfrm rot="10800000" flipV="1">
            <a:off x="1859280" y="991870"/>
            <a:ext cx="2394585" cy="566420"/>
          </a:xfrm>
          <a:prstGeom prst="curvedConnector2">
            <a:avLst/>
          </a:prstGeom>
          <a:ln w="28575" cmpd="sng">
            <a:solidFill>
              <a:schemeClr val="bg1">
                <a:lumMod val="65000"/>
              </a:schemeClr>
            </a:solidFill>
            <a:prstDash val="sysDot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曲线连接符 213"/>
          <p:cNvCxnSpPr>
            <a:endCxn id="200" idx="0"/>
          </p:cNvCxnSpPr>
          <p:nvPr/>
        </p:nvCxnSpPr>
        <p:spPr>
          <a:xfrm rot="10800000" flipV="1">
            <a:off x="626110" y="987425"/>
            <a:ext cx="3641090" cy="570865"/>
          </a:xfrm>
          <a:prstGeom prst="curvedConnector2">
            <a:avLst/>
          </a:prstGeom>
          <a:ln w="28575" cmpd="sng">
            <a:solidFill>
              <a:schemeClr val="bg1">
                <a:lumMod val="65000"/>
              </a:schemeClr>
            </a:solidFill>
            <a:prstDash val="sysDot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圆角矩形 1"/>
          <p:cNvSpPr/>
          <p:nvPr/>
        </p:nvSpPr>
        <p:spPr>
          <a:xfrm>
            <a:off x="132080" y="2322830"/>
            <a:ext cx="987425" cy="377825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委员会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32080" y="2875915"/>
            <a:ext cx="987425" cy="377825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引进成员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344295" y="2322830"/>
            <a:ext cx="1029335" cy="377825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支出记录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344295" y="2875915"/>
            <a:ext cx="1029335" cy="377825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支出报销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261610" y="3327400"/>
            <a:ext cx="1058545" cy="365760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文案排版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277485" y="3773805"/>
            <a:ext cx="1058545" cy="351790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稿件审核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32080" y="3429000"/>
            <a:ext cx="1050290" cy="414020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成员信息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维护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32080" y="3982085"/>
            <a:ext cx="1050290" cy="318770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贡献度统计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497455" y="2875280"/>
            <a:ext cx="1069340" cy="389890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内部通讯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888105" y="2322830"/>
            <a:ext cx="1058545" cy="381000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运维组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3888105" y="3296920"/>
            <a:ext cx="1058545" cy="328930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应用开发组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3888105" y="2853690"/>
            <a:ext cx="1058545" cy="328930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大模型组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888105" y="3790315"/>
            <a:ext cx="1058545" cy="328930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插件组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3888105" y="4726940"/>
            <a:ext cx="1058545" cy="328930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引擎组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3888105" y="4283710"/>
            <a:ext cx="1058545" cy="328930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艺术组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261610" y="2338705"/>
            <a:ext cx="1058545" cy="365760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文档撰写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5261610" y="2851150"/>
            <a:ext cx="1058545" cy="377825"/>
          </a:xfrm>
          <a:prstGeom prst="roundRect">
            <a:avLst/>
          </a:prstGeom>
          <a:solidFill>
            <a:srgbClr val="A1B8E0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截图录屏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 cmpd="sng">
          <a:solidFill>
            <a:schemeClr val="bg1">
              <a:lumMod val="65000"/>
            </a:schemeClr>
          </a:solidFill>
          <a:prstDash val="sysDot"/>
          <a:headEnd type="none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 cmpd="sng">
          <a:solidFill>
            <a:schemeClr val="bg1">
              <a:lumMod val="65000"/>
            </a:schemeClr>
          </a:solidFill>
          <a:prstDash val="sysDot"/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 11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14496"/>
      </a:accent1>
      <a:accent2>
        <a:srgbClr val="FF330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2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WPS 演示</Application>
  <PresentationFormat>全屏显示(16:9)</PresentationFormat>
  <Paragraphs>83</Paragraphs>
  <Slides>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20" baseType="lpstr">
      <vt:lpstr>Arial</vt:lpstr>
      <vt:lpstr>宋体</vt:lpstr>
      <vt:lpstr>Wingdings</vt:lpstr>
      <vt:lpstr>Arial</vt:lpstr>
      <vt:lpstr>Economica</vt:lpstr>
      <vt:lpstr>Open Sans</vt:lpstr>
      <vt:lpstr>Muli Regular</vt:lpstr>
      <vt:lpstr>微软雅黑</vt:lpstr>
      <vt:lpstr>等线</vt:lpstr>
      <vt:lpstr>Times New Roman</vt:lpstr>
      <vt:lpstr>Muli</vt:lpstr>
      <vt:lpstr>Arial Unicode MS</vt:lpstr>
      <vt:lpstr>Economica</vt:lpstr>
      <vt:lpstr>Muli</vt:lpstr>
      <vt:lpstr>Muli Regular</vt:lpstr>
      <vt:lpstr>Open Sans</vt:lpstr>
      <vt:lpstr>Luxe</vt:lpstr>
      <vt:lpstr>自定义设计方案</vt:lpstr>
      <vt:lpstr>OpenHUTB 模拟器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Administrator</dc:creator>
  <cp:lastModifiedBy>王海东</cp:lastModifiedBy>
  <cp:revision>1285</cp:revision>
  <dcterms:created xsi:type="dcterms:W3CDTF">2020-04-29T14:54:00Z</dcterms:created>
  <dcterms:modified xsi:type="dcterms:W3CDTF">2026-09-07T13:06:46Z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52001D24D9B141B2A1B5955D7D21ACC2</vt:lpwstr>
  </property>
  <property fmtid="{D5CDD505-2E9C-101B-9397-08002B2CF9AE}" pid="3" name="KSOProductBuildVer">
    <vt:lpwstr>2052-12.1.0.28022</vt:lpwstr>
  </property>
</Properties>
</file>